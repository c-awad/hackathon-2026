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359 thousand dollars recoverable of 1.49 million, which clears the 20 percent target at the point estimate. Most of the recoverable money is GPUs nobody was using, not machines to switch off and not people to chase. Each job sits in exactly one waste class, so nothing is double counted: summing the detectors' own impact figures would claim 157 percent of the cluster. Cancelled jobs are not counted as waste in themselves, only the idle time before the cancel. Then demo tabs 1 and 2 of the dashboard: the spend wheel, the hatched cut, and clicking a row to drill down to real job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tile the judges care about most. Walk the table top to bottom. The drain recommendation is the strongest point: the API says drain five machines and save 57 thousand dollars, but it ranks by finding count and never reads root causes; 15 of the 20 findings it cites have no root cause at all, and the API's own causal endpoint says the culprit is a broken array, not the machines. Demo tab 3 and click the first row to show the live causal answer. Then tab 4: move the quota slider, then flip the credits pool between predicted runtime and requested limit to show why requested limits, over-asked about two thousand times, make the pool inert. Close on honesty: hours are reported before dollars, intervals are wide on purpose, and 26 of 113 node alarms are marked cannot determine.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274320"/>
          </a:xfrm>
          <a:prstGeom prst="rect">
            <a:avLst/>
          </a:prstGeom>
          <a:noFill/>
          <a:ln/>
        </p:spPr>
        <p:txBody>
          <a:bodyPr wrap="square" lIns="0" tIns="0" rIns="0" bIns="0" rtlCol="0" anchor="t"/>
          <a:lstStyle/>
          <a:p>
            <a:pPr indent="0" marL="0">
              <a:buNone/>
            </a:pPr>
            <a:r>
              <a:rPr lang="en-US" sz="1200" b="1" spc="200" kern="0" dirty="0">
                <a:solidFill>
                  <a:srgbClr val="58A6FF"/>
                </a:solidFill>
                <a:latin typeface="Calibri" pitchFamily="34" charset="0"/>
                <a:ea typeface="Calibri" pitchFamily="34" charset="-122"/>
                <a:cs typeface="Calibri" pitchFamily="34" charset="-120"/>
              </a:rPr>
              <a:t>TEAM 16  ·  TRACK 2  ·  CLUSTER EFFICIENCY</a:t>
            </a:r>
            <a:endParaRPr lang="en-US" sz="1200" dirty="0"/>
          </a:p>
        </p:txBody>
      </p:sp>
      <p:sp>
        <p:nvSpPr>
          <p:cNvPr id="3" name="Text 1"/>
          <p:cNvSpPr txBox="1"/>
          <p:nvPr/>
        </p:nvSpPr>
        <p:spPr>
          <a:xfrm>
            <a:off x="548640" y="731520"/>
            <a:ext cx="11064240" cy="685800"/>
          </a:xfrm>
          <a:prstGeom prst="rect">
            <a:avLst/>
          </a:prstGeom>
          <a:noFill/>
          <a:ln/>
        </p:spPr>
        <p:txBody>
          <a:bodyPr wrap="square" lIns="0" tIns="0" rIns="0" bIns="0" rtlCol="0" anchor="t"/>
          <a:lstStyle/>
          <a:p>
            <a:pPr indent="0" marL="0">
              <a:buNone/>
            </a:pPr>
            <a:r>
              <a:rPr lang="en-US" sz="3200" b="1" dirty="0">
                <a:solidFill>
                  <a:srgbClr val="E6EDF3"/>
                </a:solidFill>
                <a:latin typeface="Calibri" pitchFamily="34" charset="0"/>
                <a:ea typeface="Calibri" pitchFamily="34" charset="-122"/>
                <a:cs typeface="Calibri" pitchFamily="34" charset="-120"/>
              </a:rPr>
              <a:t>Where to cut $1.49M of GPU spend, and what not to touch</a:t>
            </a:r>
            <a:endParaRPr lang="en-US" sz="3200" dirty="0"/>
          </a:p>
        </p:txBody>
      </p:sp>
      <p:sp>
        <p:nvSpPr>
          <p:cNvPr id="4" name="Shape 2"/>
          <p:cNvSpPr/>
          <p:nvPr/>
        </p:nvSpPr>
        <p:spPr>
          <a:xfrm>
            <a:off x="548640" y="1645920"/>
            <a:ext cx="2651760" cy="1920240"/>
          </a:xfrm>
          <a:prstGeom prst="roundRect">
            <a:avLst>
              <a:gd name="adj" fmla="val 3810"/>
            </a:avLst>
          </a:prstGeom>
          <a:solidFill>
            <a:srgbClr val="161B22"/>
          </a:solidFill>
          <a:ln w="9525">
            <a:solidFill>
              <a:srgbClr val="2B3440"/>
            </a:solidFill>
            <a:prstDash val="solid"/>
          </a:ln>
        </p:spPr>
      </p:sp>
      <p:sp>
        <p:nvSpPr>
          <p:cNvPr id="5" name="Text 3"/>
          <p:cNvSpPr txBox="1"/>
          <p:nvPr/>
        </p:nvSpPr>
        <p:spPr>
          <a:xfrm>
            <a:off x="749808" y="1755648"/>
            <a:ext cx="2249424" cy="685800"/>
          </a:xfrm>
          <a:prstGeom prst="rect">
            <a:avLst/>
          </a:prstGeom>
          <a:noFill/>
          <a:ln/>
        </p:spPr>
        <p:txBody>
          <a:bodyPr wrap="square" lIns="0" tIns="0" rIns="0" bIns="0" rtlCol="0" anchor="t"/>
          <a:lstStyle/>
          <a:p>
            <a:pPr indent="0" marL="0">
              <a:buNone/>
            </a:pPr>
            <a:r>
              <a:rPr lang="en-US" sz="4000" b="1" dirty="0">
                <a:solidFill>
                  <a:srgbClr val="3FB950"/>
                </a:solidFill>
                <a:latin typeface="Calibri" pitchFamily="34" charset="0"/>
                <a:ea typeface="Calibri" pitchFamily="34" charset="-122"/>
                <a:cs typeface="Calibri" pitchFamily="34" charset="-120"/>
              </a:rPr>
              <a:t>$359K</a:t>
            </a:r>
            <a:endParaRPr lang="en-US" sz="4000" dirty="0"/>
          </a:p>
        </p:txBody>
      </p:sp>
      <p:sp>
        <p:nvSpPr>
          <p:cNvPr id="6" name="Text 4"/>
          <p:cNvSpPr txBox="1"/>
          <p:nvPr/>
        </p:nvSpPr>
        <p:spPr>
          <a:xfrm>
            <a:off x="749808" y="2468880"/>
            <a:ext cx="2249424" cy="32004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recoverable, 24% of spend</a:t>
            </a:r>
            <a:endParaRPr lang="en-US" sz="1400" dirty="0"/>
          </a:p>
        </p:txBody>
      </p:sp>
      <p:sp>
        <p:nvSpPr>
          <p:cNvPr id="7" name="Text 5"/>
          <p:cNvSpPr txBox="1"/>
          <p:nvPr/>
        </p:nvSpPr>
        <p:spPr>
          <a:xfrm>
            <a:off x="749808" y="2816352"/>
            <a:ext cx="2249424" cy="658368"/>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Range $202K to $491K. Clears the 20% target of $297K.</a:t>
            </a:r>
            <a:endParaRPr lang="en-US" sz="1200" dirty="0"/>
          </a:p>
        </p:txBody>
      </p:sp>
      <p:sp>
        <p:nvSpPr>
          <p:cNvPr id="8" name="Shape 6"/>
          <p:cNvSpPr/>
          <p:nvPr/>
        </p:nvSpPr>
        <p:spPr>
          <a:xfrm>
            <a:off x="3355848" y="1645920"/>
            <a:ext cx="2651760" cy="1920240"/>
          </a:xfrm>
          <a:prstGeom prst="roundRect">
            <a:avLst>
              <a:gd name="adj" fmla="val 3810"/>
            </a:avLst>
          </a:prstGeom>
          <a:solidFill>
            <a:srgbClr val="161B22"/>
          </a:solidFill>
          <a:ln w="9525">
            <a:solidFill>
              <a:srgbClr val="2B3440"/>
            </a:solidFill>
            <a:prstDash val="solid"/>
          </a:ln>
        </p:spPr>
      </p:sp>
      <p:sp>
        <p:nvSpPr>
          <p:cNvPr id="9" name="Text 7"/>
          <p:cNvSpPr txBox="1"/>
          <p:nvPr/>
        </p:nvSpPr>
        <p:spPr>
          <a:xfrm>
            <a:off x="3557016" y="1755648"/>
            <a:ext cx="2249424" cy="685800"/>
          </a:xfrm>
          <a:prstGeom prst="rect">
            <a:avLst/>
          </a:prstGeom>
          <a:noFill/>
          <a:ln/>
        </p:spPr>
        <p:txBody>
          <a:bodyPr wrap="square" lIns="0" tIns="0" rIns="0" bIns="0" rtlCol="0" anchor="t"/>
          <a:lstStyle/>
          <a:p>
            <a:pPr indent="0" marL="0">
              <a:buNone/>
            </a:pPr>
            <a:r>
              <a:rPr lang="en-US" sz="4000" b="1" dirty="0">
                <a:solidFill>
                  <a:srgbClr val="E6EDF3"/>
                </a:solidFill>
                <a:latin typeface="Calibri" pitchFamily="34" charset="0"/>
                <a:ea typeface="Calibri" pitchFamily="34" charset="-122"/>
                <a:cs typeface="Calibri" pitchFamily="34" charset="-120"/>
              </a:rPr>
              <a:t>1</a:t>
            </a:r>
            <a:endParaRPr lang="en-US" sz="4000" dirty="0"/>
          </a:p>
        </p:txBody>
      </p:sp>
      <p:sp>
        <p:nvSpPr>
          <p:cNvPr id="10" name="Text 8"/>
          <p:cNvSpPr txBox="1"/>
          <p:nvPr/>
        </p:nvSpPr>
        <p:spPr>
          <a:xfrm>
            <a:off x="3557016" y="2468880"/>
            <a:ext cx="2249424" cy="32004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machine to drain</a:t>
            </a:r>
            <a:endParaRPr lang="en-US" sz="1400" dirty="0"/>
          </a:p>
        </p:txBody>
      </p:sp>
      <p:sp>
        <p:nvSpPr>
          <p:cNvPr id="11" name="Text 9"/>
          <p:cNvSpPr txBox="1"/>
          <p:nvPr/>
        </p:nvSpPr>
        <p:spPr>
          <a:xfrm>
            <a:off x="3557016" y="2816352"/>
            <a:ext cx="2249424" cy="658368"/>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Not the 121 the findings suggest, not the 5 the API recommends.</a:t>
            </a:r>
            <a:endParaRPr lang="en-US" sz="1200" dirty="0"/>
          </a:p>
        </p:txBody>
      </p:sp>
      <p:sp>
        <p:nvSpPr>
          <p:cNvPr id="12" name="Shape 10"/>
          <p:cNvSpPr/>
          <p:nvPr/>
        </p:nvSpPr>
        <p:spPr>
          <a:xfrm>
            <a:off x="6163056" y="1645920"/>
            <a:ext cx="2651760" cy="1920240"/>
          </a:xfrm>
          <a:prstGeom prst="roundRect">
            <a:avLst>
              <a:gd name="adj" fmla="val 3810"/>
            </a:avLst>
          </a:prstGeom>
          <a:solidFill>
            <a:srgbClr val="161B22"/>
          </a:solidFill>
          <a:ln w="9525">
            <a:solidFill>
              <a:srgbClr val="2B3440"/>
            </a:solidFill>
            <a:prstDash val="solid"/>
          </a:ln>
        </p:spPr>
      </p:sp>
      <p:sp>
        <p:nvSpPr>
          <p:cNvPr id="13" name="Text 11"/>
          <p:cNvSpPr txBox="1"/>
          <p:nvPr/>
        </p:nvSpPr>
        <p:spPr>
          <a:xfrm>
            <a:off x="6364224" y="1755648"/>
            <a:ext cx="2249424" cy="685800"/>
          </a:xfrm>
          <a:prstGeom prst="rect">
            <a:avLst/>
          </a:prstGeom>
          <a:noFill/>
          <a:ln/>
        </p:spPr>
        <p:txBody>
          <a:bodyPr wrap="square" lIns="0" tIns="0" rIns="0" bIns="0" rtlCol="0" anchor="t"/>
          <a:lstStyle/>
          <a:p>
            <a:pPr indent="0" marL="0">
              <a:buNone/>
            </a:pPr>
            <a:r>
              <a:rPr lang="en-US" sz="4000" b="1" dirty="0">
                <a:solidFill>
                  <a:srgbClr val="E6EDF3"/>
                </a:solidFill>
                <a:latin typeface="Calibri" pitchFamily="34" charset="0"/>
                <a:ea typeface="Calibri" pitchFamily="34" charset="-122"/>
                <a:cs typeface="Calibri" pitchFamily="34" charset="-120"/>
              </a:rPr>
              <a:t>0.8%</a:t>
            </a:r>
            <a:endParaRPr lang="en-US" sz="4000" dirty="0"/>
          </a:p>
        </p:txBody>
      </p:sp>
      <p:sp>
        <p:nvSpPr>
          <p:cNvPr id="14" name="Text 12"/>
          <p:cNvSpPr txBox="1"/>
          <p:nvPr/>
        </p:nvSpPr>
        <p:spPr>
          <a:xfrm>
            <a:off x="6364224" y="2468880"/>
            <a:ext cx="2249424" cy="32004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of failures are hardware</a:t>
            </a:r>
            <a:endParaRPr lang="en-US" sz="1400" dirty="0"/>
          </a:p>
        </p:txBody>
      </p:sp>
      <p:sp>
        <p:nvSpPr>
          <p:cNvPr id="15" name="Text 13"/>
          <p:cNvSpPr txBox="1"/>
          <p:nvPr/>
        </p:nvSpPr>
        <p:spPr>
          <a:xfrm>
            <a:off x="6364224" y="2816352"/>
            <a:ext cx="2249424" cy="658368"/>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145 of 18,587. One machine broke silently for a week.</a:t>
            </a:r>
            <a:endParaRPr lang="en-US" sz="1200" dirty="0"/>
          </a:p>
        </p:txBody>
      </p:sp>
      <p:sp>
        <p:nvSpPr>
          <p:cNvPr id="16" name="Shape 14"/>
          <p:cNvSpPr/>
          <p:nvPr/>
        </p:nvSpPr>
        <p:spPr>
          <a:xfrm>
            <a:off x="8970264" y="1645920"/>
            <a:ext cx="2651760" cy="1920240"/>
          </a:xfrm>
          <a:prstGeom prst="roundRect">
            <a:avLst>
              <a:gd name="adj" fmla="val 3810"/>
            </a:avLst>
          </a:prstGeom>
          <a:solidFill>
            <a:srgbClr val="161B22"/>
          </a:solidFill>
          <a:ln w="9525">
            <a:solidFill>
              <a:srgbClr val="2B3440"/>
            </a:solidFill>
            <a:prstDash val="solid"/>
          </a:ln>
        </p:spPr>
      </p:sp>
      <p:sp>
        <p:nvSpPr>
          <p:cNvPr id="17" name="Text 15"/>
          <p:cNvSpPr txBox="1"/>
          <p:nvPr/>
        </p:nvSpPr>
        <p:spPr>
          <a:xfrm>
            <a:off x="9171432" y="1755648"/>
            <a:ext cx="2249424" cy="685800"/>
          </a:xfrm>
          <a:prstGeom prst="rect">
            <a:avLst/>
          </a:prstGeom>
          <a:noFill/>
          <a:ln/>
        </p:spPr>
        <p:txBody>
          <a:bodyPr wrap="square" lIns="0" tIns="0" rIns="0" bIns="0" rtlCol="0" anchor="t"/>
          <a:lstStyle/>
          <a:p>
            <a:pPr indent="0" marL="0">
              <a:buNone/>
            </a:pPr>
            <a:r>
              <a:rPr lang="en-US" sz="4000" b="1" dirty="0">
                <a:solidFill>
                  <a:srgbClr val="58A6FF"/>
                </a:solidFill>
                <a:latin typeface="Calibri" pitchFamily="34" charset="0"/>
                <a:ea typeface="Calibri" pitchFamily="34" charset="-122"/>
                <a:cs typeface="Calibri" pitchFamily="34" charset="-120"/>
              </a:rPr>
              <a:t>1,267 h</a:t>
            </a:r>
            <a:endParaRPr lang="en-US" sz="4000" dirty="0"/>
          </a:p>
        </p:txBody>
      </p:sp>
      <p:sp>
        <p:nvSpPr>
          <p:cNvPr id="18" name="Text 16"/>
          <p:cNvSpPr txBox="1"/>
          <p:nvPr/>
        </p:nvSpPr>
        <p:spPr>
          <a:xfrm>
            <a:off x="9171432" y="2468880"/>
            <a:ext cx="2249424" cy="32004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of waiting removed</a:t>
            </a:r>
            <a:endParaRPr lang="en-US" sz="1400" dirty="0"/>
          </a:p>
        </p:txBody>
      </p:sp>
      <p:sp>
        <p:nvSpPr>
          <p:cNvPr id="19" name="Text 17"/>
          <p:cNvSpPr txBox="1"/>
          <p:nvPr/>
        </p:nvSpPr>
        <p:spPr>
          <a:xfrm>
            <a:off x="9171432" y="2816352"/>
            <a:ext cx="2249424" cy="658368"/>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The queue is a quota problem, not a capacity one.</a:t>
            </a:r>
            <a:endParaRPr lang="en-US" sz="1200" dirty="0"/>
          </a:p>
        </p:txBody>
      </p:sp>
      <p:sp>
        <p:nvSpPr>
          <p:cNvPr id="20" name="Text 18"/>
          <p:cNvSpPr txBox="1"/>
          <p:nvPr/>
        </p:nvSpPr>
        <p:spPr>
          <a:xfrm>
            <a:off x="548640" y="3840480"/>
            <a:ext cx="11064240" cy="365760"/>
          </a:xfrm>
          <a:prstGeom prst="rect">
            <a:avLst/>
          </a:prstGeom>
          <a:noFill/>
          <a:ln/>
        </p:spPr>
        <p:txBody>
          <a:bodyPr wrap="square" lIns="0" tIns="0" rIns="0" bIns="0" rtlCol="0" anchor="t"/>
          <a:lstStyle/>
          <a:p>
            <a:pPr indent="0" marL="0">
              <a:buNone/>
            </a:pPr>
            <a:r>
              <a:rPr lang="en-US" sz="1800" b="1" dirty="0">
                <a:solidFill>
                  <a:srgbClr val="E6EDF3"/>
                </a:solidFill>
                <a:latin typeface="Calibri" pitchFamily="34" charset="0"/>
                <a:ea typeface="Calibri" pitchFamily="34" charset="-122"/>
                <a:cs typeface="Calibri" pitchFamily="34" charset="-120"/>
              </a:rPr>
              <a:t>Where the $359K comes from. Every job is counted once.</a:t>
            </a:r>
            <a:endParaRPr lang="en-US" sz="1800" dirty="0"/>
          </a:p>
        </p:txBody>
      </p:sp>
      <p:sp>
        <p:nvSpPr>
          <p:cNvPr id="21" name="Shape 19"/>
          <p:cNvSpPr/>
          <p:nvPr/>
        </p:nvSpPr>
        <p:spPr>
          <a:xfrm>
            <a:off x="548640" y="4297680"/>
            <a:ext cx="2651760" cy="1691640"/>
          </a:xfrm>
          <a:prstGeom prst="roundRect">
            <a:avLst>
              <a:gd name="adj" fmla="val 4324"/>
            </a:avLst>
          </a:prstGeom>
          <a:solidFill>
            <a:srgbClr val="161B22"/>
          </a:solidFill>
          <a:ln w="9525">
            <a:solidFill>
              <a:srgbClr val="2B3440"/>
            </a:solidFill>
            <a:prstDash val="solid"/>
          </a:ln>
        </p:spPr>
      </p:sp>
      <p:sp>
        <p:nvSpPr>
          <p:cNvPr id="22" name="Shape 20"/>
          <p:cNvSpPr/>
          <p:nvPr/>
        </p:nvSpPr>
        <p:spPr>
          <a:xfrm>
            <a:off x="749808" y="4498848"/>
            <a:ext cx="146304" cy="146304"/>
          </a:xfrm>
          <a:prstGeom prst="ellipse">
            <a:avLst/>
          </a:prstGeom>
          <a:solidFill>
            <a:srgbClr val="D29922"/>
          </a:solidFill>
          <a:ln w="12700">
            <a:solidFill>
              <a:srgbClr val="D29922"/>
            </a:solidFill>
            <a:prstDash val="solid"/>
          </a:ln>
        </p:spPr>
      </p:sp>
      <p:sp>
        <p:nvSpPr>
          <p:cNvPr id="23" name="Text 21"/>
          <p:cNvSpPr txBox="1"/>
          <p:nvPr/>
        </p:nvSpPr>
        <p:spPr>
          <a:xfrm>
            <a:off x="969264" y="4434840"/>
            <a:ext cx="2029968"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End idle allocations</a:t>
            </a:r>
            <a:endParaRPr lang="en-US" sz="1400" dirty="0"/>
          </a:p>
        </p:txBody>
      </p:sp>
      <p:sp>
        <p:nvSpPr>
          <p:cNvPr id="24" name="Text 22"/>
          <p:cNvSpPr txBox="1"/>
          <p:nvPr/>
        </p:nvSpPr>
        <p:spPr>
          <a:xfrm>
            <a:off x="749808" y="4800600"/>
            <a:ext cx="2249424" cy="566928"/>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15,070 jobs held GPUs and never ran a kernel.</a:t>
            </a:r>
            <a:endParaRPr lang="en-US" sz="1200" dirty="0"/>
          </a:p>
        </p:txBody>
      </p:sp>
      <p:sp>
        <p:nvSpPr>
          <p:cNvPr id="25" name="Text 23"/>
          <p:cNvSpPr txBox="1"/>
          <p:nvPr/>
        </p:nvSpPr>
        <p:spPr>
          <a:xfrm>
            <a:off x="749808" y="5440680"/>
            <a:ext cx="2249424" cy="411480"/>
          </a:xfrm>
          <a:prstGeom prst="rect">
            <a:avLst/>
          </a:prstGeom>
          <a:noFill/>
          <a:ln/>
        </p:spPr>
        <p:txBody>
          <a:bodyPr wrap="square" lIns="0" tIns="0" rIns="0" bIns="0" rtlCol="0" anchor="t"/>
          <a:lstStyle/>
          <a:p>
            <a:pPr indent="0" marL="0">
              <a:buNone/>
            </a:pPr>
            <a:r>
              <a:rPr lang="en-US" sz="2200" b="1" dirty="0">
                <a:solidFill>
                  <a:srgbClr val="3FB950"/>
                </a:solidFill>
                <a:latin typeface="Calibri" pitchFamily="34" charset="0"/>
                <a:ea typeface="Calibri" pitchFamily="34" charset="-122"/>
                <a:cs typeface="Calibri" pitchFamily="34" charset="-120"/>
              </a:rPr>
              <a:t>−$205K</a:t>
            </a:r>
            <a:endParaRPr lang="en-US" sz="2200" dirty="0"/>
          </a:p>
        </p:txBody>
      </p:sp>
      <p:sp>
        <p:nvSpPr>
          <p:cNvPr id="26" name="Shape 24"/>
          <p:cNvSpPr/>
          <p:nvPr/>
        </p:nvSpPr>
        <p:spPr>
          <a:xfrm>
            <a:off x="3355848" y="4297680"/>
            <a:ext cx="2651760" cy="1691640"/>
          </a:xfrm>
          <a:prstGeom prst="roundRect">
            <a:avLst>
              <a:gd name="adj" fmla="val 4324"/>
            </a:avLst>
          </a:prstGeom>
          <a:solidFill>
            <a:srgbClr val="161B22"/>
          </a:solidFill>
          <a:ln w="9525">
            <a:solidFill>
              <a:srgbClr val="2B3440"/>
            </a:solidFill>
            <a:prstDash val="solid"/>
          </a:ln>
        </p:spPr>
      </p:sp>
      <p:sp>
        <p:nvSpPr>
          <p:cNvPr id="27" name="Shape 25"/>
          <p:cNvSpPr/>
          <p:nvPr/>
        </p:nvSpPr>
        <p:spPr>
          <a:xfrm>
            <a:off x="3557016" y="4498848"/>
            <a:ext cx="146304" cy="146304"/>
          </a:xfrm>
          <a:prstGeom prst="ellipse">
            <a:avLst/>
          </a:prstGeom>
          <a:solidFill>
            <a:srgbClr val="BC8CFF"/>
          </a:solidFill>
          <a:ln w="12700">
            <a:solidFill>
              <a:srgbClr val="BC8CFF"/>
            </a:solidFill>
            <a:prstDash val="solid"/>
          </a:ln>
        </p:spPr>
      </p:sp>
      <p:sp>
        <p:nvSpPr>
          <p:cNvPr id="28" name="Text 26"/>
          <p:cNvSpPr txBox="1"/>
          <p:nvPr/>
        </p:nvSpPr>
        <p:spPr>
          <a:xfrm>
            <a:off x="3776472" y="4434840"/>
            <a:ext cx="2029968"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Review barely-used GPUs</a:t>
            </a:r>
            <a:endParaRPr lang="en-US" sz="1400" dirty="0"/>
          </a:p>
        </p:txBody>
      </p:sp>
      <p:sp>
        <p:nvSpPr>
          <p:cNvPr id="29" name="Text 27"/>
          <p:cNvSpPr txBox="1"/>
          <p:nvPr/>
        </p:nvSpPr>
        <p:spPr>
          <a:xfrm>
            <a:off x="3557016" y="4800600"/>
            <a:ext cx="2249424" cy="566928"/>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Under 5% busy. We count half: some is real bursty work.</a:t>
            </a:r>
            <a:endParaRPr lang="en-US" sz="1200" dirty="0"/>
          </a:p>
        </p:txBody>
      </p:sp>
      <p:sp>
        <p:nvSpPr>
          <p:cNvPr id="30" name="Text 28"/>
          <p:cNvSpPr txBox="1"/>
          <p:nvPr/>
        </p:nvSpPr>
        <p:spPr>
          <a:xfrm>
            <a:off x="3557016" y="5440680"/>
            <a:ext cx="2249424" cy="411480"/>
          </a:xfrm>
          <a:prstGeom prst="rect">
            <a:avLst/>
          </a:prstGeom>
          <a:noFill/>
          <a:ln/>
        </p:spPr>
        <p:txBody>
          <a:bodyPr wrap="square" lIns="0" tIns="0" rIns="0" bIns="0" rtlCol="0" anchor="t"/>
          <a:lstStyle/>
          <a:p>
            <a:pPr indent="0" marL="0">
              <a:buNone/>
            </a:pPr>
            <a:r>
              <a:rPr lang="en-US" sz="2200" b="1" dirty="0">
                <a:solidFill>
                  <a:srgbClr val="3FB950"/>
                </a:solidFill>
                <a:latin typeface="Calibri" pitchFamily="34" charset="0"/>
                <a:ea typeface="Calibri" pitchFamily="34" charset="-122"/>
                <a:cs typeface="Calibri" pitchFamily="34" charset="-120"/>
              </a:rPr>
              <a:t>−$106K</a:t>
            </a:r>
            <a:endParaRPr lang="en-US" sz="2200" dirty="0"/>
          </a:p>
        </p:txBody>
      </p:sp>
      <p:sp>
        <p:nvSpPr>
          <p:cNvPr id="31" name="Shape 29"/>
          <p:cNvSpPr/>
          <p:nvPr/>
        </p:nvSpPr>
        <p:spPr>
          <a:xfrm>
            <a:off x="6163056" y="4297680"/>
            <a:ext cx="2651760" cy="1691640"/>
          </a:xfrm>
          <a:prstGeom prst="roundRect">
            <a:avLst>
              <a:gd name="adj" fmla="val 4324"/>
            </a:avLst>
          </a:prstGeom>
          <a:solidFill>
            <a:srgbClr val="161B22"/>
          </a:solidFill>
          <a:ln w="9525">
            <a:solidFill>
              <a:srgbClr val="2B3440"/>
            </a:solidFill>
            <a:prstDash val="solid"/>
          </a:ln>
        </p:spPr>
      </p:sp>
      <p:sp>
        <p:nvSpPr>
          <p:cNvPr id="32" name="Shape 30"/>
          <p:cNvSpPr/>
          <p:nvPr/>
        </p:nvSpPr>
        <p:spPr>
          <a:xfrm>
            <a:off x="6364224" y="4498848"/>
            <a:ext cx="146304" cy="146304"/>
          </a:xfrm>
          <a:prstGeom prst="ellipse">
            <a:avLst/>
          </a:prstGeom>
          <a:solidFill>
            <a:srgbClr val="58A6FF"/>
          </a:solidFill>
          <a:ln w="12700">
            <a:solidFill>
              <a:srgbClr val="58A6FF"/>
            </a:solidFill>
            <a:prstDash val="solid"/>
          </a:ln>
        </p:spPr>
      </p:sp>
      <p:sp>
        <p:nvSpPr>
          <p:cNvPr id="33" name="Text 31"/>
          <p:cNvSpPr txBox="1"/>
          <p:nvPr/>
        </p:nvSpPr>
        <p:spPr>
          <a:xfrm>
            <a:off x="6583680" y="4434840"/>
            <a:ext cx="2029968"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Move CPU work off GPUs</a:t>
            </a:r>
            <a:endParaRPr lang="en-US" sz="1400" dirty="0"/>
          </a:p>
        </p:txBody>
      </p:sp>
      <p:sp>
        <p:nvSpPr>
          <p:cNvPr id="34" name="Text 32"/>
          <p:cNvSpPr txBox="1"/>
          <p:nvPr/>
        </p:nvSpPr>
        <p:spPr>
          <a:xfrm>
            <a:off x="6364224" y="4800600"/>
            <a:ext cx="2249424" cy="566928"/>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Jobs that finished without ever touching their GPU.</a:t>
            </a:r>
            <a:endParaRPr lang="en-US" sz="1200" dirty="0"/>
          </a:p>
        </p:txBody>
      </p:sp>
      <p:sp>
        <p:nvSpPr>
          <p:cNvPr id="35" name="Text 33"/>
          <p:cNvSpPr txBox="1"/>
          <p:nvPr/>
        </p:nvSpPr>
        <p:spPr>
          <a:xfrm>
            <a:off x="6364224" y="5440680"/>
            <a:ext cx="2249424" cy="411480"/>
          </a:xfrm>
          <a:prstGeom prst="rect">
            <a:avLst/>
          </a:prstGeom>
          <a:noFill/>
          <a:ln/>
        </p:spPr>
        <p:txBody>
          <a:bodyPr wrap="square" lIns="0" tIns="0" rIns="0" bIns="0" rtlCol="0" anchor="t"/>
          <a:lstStyle/>
          <a:p>
            <a:pPr indent="0" marL="0">
              <a:buNone/>
            </a:pPr>
            <a:r>
              <a:rPr lang="en-US" sz="2200" b="1" dirty="0">
                <a:solidFill>
                  <a:srgbClr val="3FB950"/>
                </a:solidFill>
                <a:latin typeface="Calibri" pitchFamily="34" charset="0"/>
                <a:ea typeface="Calibri" pitchFamily="34" charset="-122"/>
                <a:cs typeface="Calibri" pitchFamily="34" charset="-120"/>
              </a:rPr>
              <a:t>−$31K</a:t>
            </a:r>
            <a:endParaRPr lang="en-US" sz="2200" dirty="0"/>
          </a:p>
        </p:txBody>
      </p:sp>
      <p:sp>
        <p:nvSpPr>
          <p:cNvPr id="36" name="Shape 34"/>
          <p:cNvSpPr/>
          <p:nvPr/>
        </p:nvSpPr>
        <p:spPr>
          <a:xfrm>
            <a:off x="8970264" y="4297680"/>
            <a:ext cx="2651760" cy="1691640"/>
          </a:xfrm>
          <a:prstGeom prst="roundRect">
            <a:avLst>
              <a:gd name="adj" fmla="val 4324"/>
            </a:avLst>
          </a:prstGeom>
          <a:solidFill>
            <a:srgbClr val="161B22"/>
          </a:solidFill>
          <a:ln w="9525">
            <a:solidFill>
              <a:srgbClr val="2B3440"/>
            </a:solidFill>
            <a:prstDash val="solid"/>
          </a:ln>
        </p:spPr>
      </p:sp>
      <p:sp>
        <p:nvSpPr>
          <p:cNvPr id="37" name="Shape 35"/>
          <p:cNvSpPr/>
          <p:nvPr/>
        </p:nvSpPr>
        <p:spPr>
          <a:xfrm>
            <a:off x="9171432" y="4498848"/>
            <a:ext cx="146304" cy="146304"/>
          </a:xfrm>
          <a:prstGeom prst="ellipse">
            <a:avLst/>
          </a:prstGeom>
          <a:solidFill>
            <a:srgbClr val="39C5CF"/>
          </a:solidFill>
          <a:ln w="12700">
            <a:solidFill>
              <a:srgbClr val="39C5CF"/>
            </a:solidFill>
            <a:prstDash val="solid"/>
          </a:ln>
        </p:spPr>
      </p:sp>
      <p:sp>
        <p:nvSpPr>
          <p:cNvPr id="38" name="Text 36"/>
          <p:cNvSpPr txBox="1"/>
          <p:nvPr/>
        </p:nvSpPr>
        <p:spPr>
          <a:xfrm>
            <a:off x="9390888" y="4434840"/>
            <a:ext cx="2029968" cy="292608"/>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Right-size 2-GPU jobs</a:t>
            </a:r>
            <a:endParaRPr lang="en-US" sz="1400" dirty="0"/>
          </a:p>
        </p:txBody>
      </p:sp>
      <p:sp>
        <p:nvSpPr>
          <p:cNvPr id="39" name="Text 37"/>
          <p:cNvSpPr txBox="1"/>
          <p:nvPr/>
        </p:nvSpPr>
        <p:spPr>
          <a:xfrm>
            <a:off x="9171432" y="4800600"/>
            <a:ext cx="2249424" cy="566928"/>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One card worked, one sat idle. Invisible in job tables.</a:t>
            </a:r>
            <a:endParaRPr lang="en-US" sz="1200" dirty="0"/>
          </a:p>
        </p:txBody>
      </p:sp>
      <p:sp>
        <p:nvSpPr>
          <p:cNvPr id="40" name="Text 38"/>
          <p:cNvSpPr txBox="1"/>
          <p:nvPr/>
        </p:nvSpPr>
        <p:spPr>
          <a:xfrm>
            <a:off x="9171432" y="5440680"/>
            <a:ext cx="2249424" cy="411480"/>
          </a:xfrm>
          <a:prstGeom prst="rect">
            <a:avLst/>
          </a:prstGeom>
          <a:noFill/>
          <a:ln/>
        </p:spPr>
        <p:txBody>
          <a:bodyPr wrap="square" lIns="0" tIns="0" rIns="0" bIns="0" rtlCol="0" anchor="t"/>
          <a:lstStyle/>
          <a:p>
            <a:pPr indent="0" marL="0">
              <a:buNone/>
            </a:pPr>
            <a:r>
              <a:rPr lang="en-US" sz="2200" b="1" dirty="0">
                <a:solidFill>
                  <a:srgbClr val="3FB950"/>
                </a:solidFill>
                <a:latin typeface="Calibri" pitchFamily="34" charset="0"/>
                <a:ea typeface="Calibri" pitchFamily="34" charset="-122"/>
                <a:cs typeface="Calibri" pitchFamily="34" charset="-120"/>
              </a:rPr>
              <a:t>−$18K</a:t>
            </a:r>
            <a:endParaRPr lang="en-US" sz="2200" dirty="0"/>
          </a:p>
        </p:txBody>
      </p:sp>
      <p:sp>
        <p:nvSpPr>
          <p:cNvPr id="41" name="Text 39"/>
          <p:cNvSpPr txBox="1"/>
          <p:nvPr/>
        </p:nvSpPr>
        <p:spPr>
          <a:xfrm>
            <a:off x="548640" y="6263640"/>
            <a:ext cx="11064240" cy="274320"/>
          </a:xfrm>
          <a:prstGeom prst="rect">
            <a:avLst/>
          </a:prstGeom>
          <a:noFill/>
          <a:ln/>
        </p:spPr>
        <p:txBody>
          <a:bodyPr wrap="square" lIns="0" tIns="0" rIns="0" bIns="0" rtlCol="0" anchor="t"/>
          <a:lstStyle/>
          <a:p>
            <a:pPr indent="0" marL="0">
              <a:buNone/>
            </a:pPr>
            <a:r>
              <a:rPr lang="en-US" sz="1100" dirty="0">
                <a:solidFill>
                  <a:srgbClr val="6E7D8C"/>
                </a:solidFill>
                <a:latin typeface="Calibri" pitchFamily="34" charset="0"/>
                <a:ea typeface="Calibri" pitchFamily="34" charset="-122"/>
                <a:cs typeface="Calibri" pitchFamily="34" charset="-120"/>
              </a:rPr>
              <a:t>MIT SuperCloud sample: 225 machines, 74,849 jobs, 594,004 GPU-hours, four months, priced at $2.50 per GPU-hour.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548640" y="457200"/>
            <a:ext cx="11064240" cy="640080"/>
          </a:xfrm>
          <a:prstGeom prst="rect">
            <a:avLst/>
          </a:prstGeom>
          <a:noFill/>
          <a:ln/>
        </p:spPr>
        <p:txBody>
          <a:bodyPr wrap="square" lIns="0" tIns="0" rIns="0" bIns="0" rtlCol="0" anchor="t"/>
          <a:lstStyle/>
          <a:p>
            <a:pPr indent="0" marL="0">
              <a:buNone/>
            </a:pPr>
            <a:r>
              <a:rPr lang="en-US" sz="3200" b="1" dirty="0">
                <a:solidFill>
                  <a:srgbClr val="E6EDF3"/>
                </a:solidFill>
                <a:latin typeface="Calibri" pitchFamily="34" charset="0"/>
                <a:ea typeface="Calibri" pitchFamily="34" charset="-122"/>
                <a:cs typeface="Calibri" pitchFamily="34" charset="-120"/>
              </a:rPr>
              <a:t>What it costs if we are wrong</a:t>
            </a:r>
            <a:endParaRPr lang="en-US" sz="3200" dirty="0"/>
          </a:p>
        </p:txBody>
      </p:sp>
      <p:sp>
        <p:nvSpPr>
          <p:cNvPr id="3" name="Text 1"/>
          <p:cNvSpPr txBox="1"/>
          <p:nvPr/>
        </p:nvSpPr>
        <p:spPr>
          <a:xfrm>
            <a:off x="548640" y="1188720"/>
            <a:ext cx="6309360" cy="365760"/>
          </a:xfrm>
          <a:prstGeom prst="rect">
            <a:avLst/>
          </a:prstGeom>
          <a:noFill/>
          <a:ln/>
        </p:spPr>
        <p:txBody>
          <a:bodyPr wrap="square" lIns="0" tIns="0" rIns="0" bIns="0" rtlCol="0" anchor="t"/>
          <a:lstStyle/>
          <a:p>
            <a:pPr indent="0" marL="0">
              <a:buNone/>
            </a:pPr>
            <a:r>
              <a:rPr lang="en-US" sz="1600" b="1" dirty="0">
                <a:solidFill>
                  <a:srgbClr val="E6EDF3"/>
                </a:solidFill>
                <a:latin typeface="Calibri" pitchFamily="34" charset="0"/>
                <a:ea typeface="Calibri" pitchFamily="34" charset="-122"/>
                <a:cs typeface="Calibri" pitchFamily="34" charset="-120"/>
              </a:rPr>
              <a:t>Four expensive mistakes. Three are suggested by the API itself.</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309360" cy="914400"/>
        </p:xfrm>
        <a:graphic>
          <a:graphicData uri="http://schemas.openxmlformats.org/drawingml/2006/table">
            <a:tbl>
              <a:tblPr/>
              <a:tblGrid>
                <a:gridCol w="2514600"/>
                <a:gridCol w="1280160"/>
                <a:gridCol w="2514600"/>
              </a:tblGrid>
              <a:tr h="365760">
                <a:tc>
                  <a:txBody>
                    <a:bodyPr/>
                    <a:lstStyle/>
                    <a:p>
                      <a:pPr indent="0" marL="0">
                        <a:buNone/>
                      </a:pPr>
                      <a:r>
                        <a:rPr lang="en-US" sz="1200" b="1" dirty="0">
                          <a:solidFill>
                            <a:srgbClr val="9AA7B4"/>
                          </a:solidFill>
                          <a:latin typeface="Calibri" pitchFamily="34" charset="0"/>
                          <a:ea typeface="Calibri" pitchFamily="34" charset="-122"/>
                          <a:cs typeface="Calibri" pitchFamily="34" charset="-120"/>
                        </a:rPr>
                        <a:t>The mistake</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solidFill>
                      <a:srgbClr val="161B22"/>
                    </a:solidFill>
                  </a:tcPr>
                </a:tc>
                <a:tc>
                  <a:txBody>
                    <a:bodyPr/>
                    <a:lstStyle/>
                    <a:p>
                      <a:pPr indent="0" marL="0">
                        <a:buNone/>
                      </a:pPr>
                      <a:r>
                        <a:rPr lang="en-US" sz="1200" b="1" dirty="0">
                          <a:solidFill>
                            <a:srgbClr val="9AA7B4"/>
                          </a:solidFill>
                          <a:latin typeface="Calibri" pitchFamily="34" charset="0"/>
                          <a:ea typeface="Calibri" pitchFamily="34" charset="-122"/>
                          <a:cs typeface="Calibri" pitchFamily="34" charset="-120"/>
                        </a:rPr>
                        <a:t>It claims</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solidFill>
                      <a:srgbClr val="161B22"/>
                    </a:solidFill>
                  </a:tcPr>
                </a:tc>
                <a:tc>
                  <a:txBody>
                    <a:bodyPr/>
                    <a:lstStyle/>
                    <a:p>
                      <a:pPr indent="0" marL="0">
                        <a:buNone/>
                      </a:pPr>
                      <a:r>
                        <a:rPr lang="en-US" sz="1200" b="1" dirty="0">
                          <a:solidFill>
                            <a:srgbClr val="9AA7B4"/>
                          </a:solidFill>
                          <a:latin typeface="Calibri" pitchFamily="34" charset="0"/>
                          <a:ea typeface="Calibri" pitchFamily="34" charset="-122"/>
                          <a:cs typeface="Calibri" pitchFamily="34" charset="-120"/>
                        </a:rPr>
                        <a:t>What it really costs</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solidFill>
                      <a:srgbClr val="161B22"/>
                    </a:solidFill>
                  </a:tcPr>
                </a:tc>
              </a:tr>
              <a:tr h="566928">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Drain the 5 machines with most findings</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$57K saved</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tcPr>
                </a:tc>
                <a:tc>
                  <a:txBody>
                    <a:bodyPr/>
                    <a:lstStyle/>
                    <a:p>
                      <a:pPr indent="0" marL="0">
                        <a:buNone/>
                      </a:pPr>
                      <a:r>
                        <a:rPr lang="en-US" sz="1200" dirty="0">
                          <a:solidFill>
                            <a:srgbClr val="F85149"/>
                          </a:solidFill>
                          <a:latin typeface="Calibri" pitchFamily="34" charset="0"/>
                          <a:ea typeface="Calibri" pitchFamily="34" charset="-122"/>
                          <a:cs typeface="Calibri" pitchFamily="34" charset="-120"/>
                        </a:rPr>
                        <a:t>$55K a quarter of capacity, saves nothing</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tcPr>
                </a:tc>
              </a:tr>
              <a:tr h="566928">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Drain the 121 storage-incident machines</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solidFill>
                      <a:srgbClr val="161B22"/>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121 problems</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solidFill>
                      <a:srgbClr val="161B22"/>
                    </a:solidFill>
                  </a:tcPr>
                </a:tc>
                <a:tc>
                  <a:txBody>
                    <a:bodyPr/>
                    <a:lstStyle/>
                    <a:p>
                      <a:pPr indent="0" marL="0">
                        <a:buNone/>
                      </a:pPr>
                      <a:r>
                        <a:rPr lang="en-US" sz="1200" dirty="0">
                          <a:solidFill>
                            <a:srgbClr val="F85149"/>
                          </a:solidFill>
                          <a:latin typeface="Calibri" pitchFamily="34" charset="0"/>
                          <a:ea typeface="Calibri" pitchFamily="34" charset="-122"/>
                          <a:cs typeface="Calibri" pitchFamily="34" charset="-120"/>
                        </a:rPr>
                        <a:t>54% of the cluster offline. It is one volume.</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solidFill>
                      <a:srgbClr val="161B22"/>
                    </a:solidFill>
                  </a:tcPr>
                </a:tc>
              </a:tr>
              <a:tr h="566928">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Count every cancelled job as waste</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$510K waste</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tcPr>
                </a:tc>
                <a:tc>
                  <a:txBody>
                    <a:bodyPr/>
                    <a:lstStyle/>
                    <a:p>
                      <a:pPr indent="0" marL="0">
                        <a:buNone/>
                      </a:pPr>
                      <a:r>
                        <a:rPr lang="en-US" sz="1200" dirty="0">
                          <a:solidFill>
                            <a:srgbClr val="F85149"/>
                          </a:solidFill>
                          <a:latin typeface="Calibri" pitchFamily="34" charset="0"/>
                          <a:ea typeface="Calibri" pitchFamily="34" charset="-122"/>
                          <a:cs typeface="Calibri" pitchFamily="34" charset="-120"/>
                        </a:rPr>
                        <a:t>$292K of it was work already computing</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tcPr>
                </a:tc>
              </a:tr>
              <a:tr h="566928">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Price queue waiting as salary</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solidFill>
                      <a:srgbClr val="161B22"/>
                    </a:solidFill>
                  </a:tcPr>
                </a:tc>
                <a:tc>
                  <a:txBody>
                    <a:bodyPr/>
                    <a:lstStyle/>
                    <a:p>
                      <a:pPr indent="0" marL="0">
                        <a:buNone/>
                      </a:pPr>
                      <a:r>
                        <a:rPr lang="en-US" sz="1200" dirty="0">
                          <a:solidFill>
                            <a:srgbClr val="E6EDF3"/>
                          </a:solidFill>
                          <a:latin typeface="Calibri" pitchFamily="34" charset="0"/>
                          <a:ea typeface="Calibri" pitchFamily="34" charset="-122"/>
                          <a:cs typeface="Calibri" pitchFamily="34" charset="-120"/>
                        </a:rPr>
                        <a:t>$9.33M</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solidFill>
                      <a:srgbClr val="161B22"/>
                    </a:solidFill>
                  </a:tcPr>
                </a:tc>
                <a:tc>
                  <a:txBody>
                    <a:bodyPr/>
                    <a:lstStyle/>
                    <a:p>
                      <a:pPr indent="0" marL="0">
                        <a:buNone/>
                      </a:pPr>
                      <a:r>
                        <a:rPr lang="en-US" sz="1200" dirty="0">
                          <a:solidFill>
                            <a:srgbClr val="F85149"/>
                          </a:solidFill>
                          <a:latin typeface="Calibri" pitchFamily="34" charset="0"/>
                          <a:ea typeface="Calibri" pitchFamily="34" charset="-122"/>
                          <a:cs typeface="Calibri" pitchFamily="34" charset="-120"/>
                        </a:rPr>
                        <a:t>6.3 times the GPU bill. Really 3,719 person-hours.</a:t>
                      </a:r>
                      <a:endParaRPr lang="en-US" sz="1200" dirty="0">
                        <a:latin typeface="Calibri" charset="0"/>
                        <a:ea typeface="Calibri" charset="0"/>
                        <a:cs typeface="Calibri" charset="0"/>
                      </a:endParaRPr>
                    </a:p>
                  </a:txBody>
                  <a:tcPr marL="101600" marR="101600" marT="50800" marB="50800" anchor="ctr">
                    <a:lnL w="9525" cap="flat" cmpd="sng" algn="ctr">
                      <a:solidFill>
                        <a:srgbClr val="2B3440"/>
                      </a:solidFill>
                      <a:prstDash val="solid"/>
                      <a:round/>
                      <a:headEnd type="none" w="med" len="med"/>
                      <a:tailEnd type="none" w="med" len="med"/>
                    </a:lnL>
                    <a:lnR w="9525" cap="flat" cmpd="sng" algn="ctr">
                      <a:solidFill>
                        <a:srgbClr val="2B3440"/>
                      </a:solidFill>
                      <a:prstDash val="solid"/>
                      <a:round/>
                      <a:headEnd type="none" w="med" len="med"/>
                      <a:tailEnd type="none" w="med" len="med"/>
                    </a:lnR>
                    <a:lnT w="9525" cap="flat" cmpd="sng" algn="ctr">
                      <a:solidFill>
                        <a:srgbClr val="2B3440"/>
                      </a:solidFill>
                      <a:prstDash val="solid"/>
                      <a:round/>
                      <a:headEnd type="none" w="med" len="med"/>
                      <a:tailEnd type="none" w="med" len="med"/>
                    </a:lnT>
                    <a:lnB w="9525" cap="flat" cmpd="sng" algn="ctr">
                      <a:solidFill>
                        <a:srgbClr val="2B3440"/>
                      </a:solidFill>
                      <a:prstDash val="solid"/>
                      <a:round/>
                      <a:headEnd type="none" w="med" len="med"/>
                      <a:tailEnd type="none" w="med" len="med"/>
                    </a:lnB>
                    <a:solidFill>
                      <a:srgbClr val="161B22"/>
                    </a:solidFill>
                  </a:tcPr>
                </a:tc>
              </a:tr>
            </a:tbl>
          </a:graphicData>
        </a:graphic>
      </p:graphicFrame>
      <p:sp>
        <p:nvSpPr>
          <p:cNvPr id="5" name="Text 2"/>
          <p:cNvSpPr txBox="1"/>
          <p:nvPr/>
        </p:nvSpPr>
        <p:spPr>
          <a:xfrm>
            <a:off x="548640" y="4206240"/>
            <a:ext cx="6309360" cy="731520"/>
          </a:xfrm>
          <a:prstGeom prst="rect">
            <a:avLst/>
          </a:prstGeom>
          <a:noFill/>
          <a:ln/>
        </p:spPr>
        <p:txBody>
          <a:bodyPr wrap="square" lIns="0" tIns="0" rIns="0" bIns="0" rtlCol="0" anchor="t"/>
          <a:lstStyle/>
          <a:p>
            <a:pPr indent="0" marL="0">
              <a:buNone/>
            </a:pPr>
            <a:r>
              <a:rPr lang="en-US" sz="1300" dirty="0">
                <a:solidFill>
                  <a:srgbClr val="9AA7B4"/>
                </a:solidFill>
                <a:latin typeface="Calibri" pitchFamily="34" charset="0"/>
                <a:ea typeface="Calibri" pitchFamily="34" charset="-122"/>
                <a:cs typeface="Calibri" pitchFamily="34" charset="-120"/>
              </a:rPr>
              <a:t>The API refutes its own drain advice: POST /v1/causal scores the failing array 1.0 and each machine about 0.14. Our dashboard shows that answer live.</a:t>
            </a:r>
            <a:endParaRPr lang="en-US" sz="1300" dirty="0"/>
          </a:p>
        </p:txBody>
      </p:sp>
      <p:sp>
        <p:nvSpPr>
          <p:cNvPr id="6" name="Shape 3"/>
          <p:cNvSpPr/>
          <p:nvPr/>
        </p:nvSpPr>
        <p:spPr>
          <a:xfrm>
            <a:off x="7223760" y="1188720"/>
            <a:ext cx="4416552" cy="2331720"/>
          </a:xfrm>
          <a:prstGeom prst="roundRect">
            <a:avLst>
              <a:gd name="adj" fmla="val 3137"/>
            </a:avLst>
          </a:prstGeom>
          <a:solidFill>
            <a:srgbClr val="161B22"/>
          </a:solidFill>
          <a:ln w="9525">
            <a:solidFill>
              <a:srgbClr val="2B3440"/>
            </a:solidFill>
            <a:prstDash val="solid"/>
          </a:ln>
        </p:spPr>
      </p:sp>
      <p:sp>
        <p:nvSpPr>
          <p:cNvPr id="7" name="Shape 4"/>
          <p:cNvSpPr/>
          <p:nvPr/>
        </p:nvSpPr>
        <p:spPr>
          <a:xfrm>
            <a:off x="7424928" y="1408176"/>
            <a:ext cx="146304" cy="146304"/>
          </a:xfrm>
          <a:prstGeom prst="ellipse">
            <a:avLst/>
          </a:prstGeom>
          <a:solidFill>
            <a:srgbClr val="58A6FF"/>
          </a:solidFill>
          <a:ln w="12700">
            <a:solidFill>
              <a:srgbClr val="58A6FF"/>
            </a:solidFill>
            <a:prstDash val="solid"/>
          </a:ln>
        </p:spPr>
      </p:sp>
      <p:sp>
        <p:nvSpPr>
          <p:cNvPr id="8" name="Text 5"/>
          <p:cNvSpPr txBox="1"/>
          <p:nvPr/>
        </p:nvSpPr>
        <p:spPr>
          <a:xfrm>
            <a:off x="7644384" y="1335024"/>
            <a:ext cx="3840480" cy="320040"/>
          </a:xfrm>
          <a:prstGeom prst="rect">
            <a:avLst/>
          </a:prstGeom>
          <a:noFill/>
          <a:ln/>
        </p:spPr>
        <p:txBody>
          <a:bodyPr wrap="square" lIns="0" tIns="0" rIns="0" bIns="0" rtlCol="0" anchor="t"/>
          <a:lstStyle/>
          <a:p>
            <a:pPr indent="0" marL="0">
              <a:buNone/>
            </a:pPr>
            <a:r>
              <a:rPr lang="en-US" sz="1500" b="1" dirty="0">
                <a:solidFill>
                  <a:srgbClr val="E6EDF3"/>
                </a:solidFill>
                <a:latin typeface="Calibri" pitchFamily="34" charset="0"/>
                <a:ea typeface="Calibri" pitchFamily="34" charset="-122"/>
                <a:cs typeface="Calibri" pitchFamily="34" charset="-120"/>
              </a:rPr>
              <a:t>Researchers wait for quota, not hardware</a:t>
            </a:r>
            <a:endParaRPr lang="en-US" sz="1500" dirty="0"/>
          </a:p>
        </p:txBody>
      </p:sp>
      <p:sp>
        <p:nvSpPr>
          <p:cNvPr id="9" name="Text 6"/>
          <p:cNvSpPr txBox="1"/>
          <p:nvPr/>
        </p:nvSpPr>
        <p:spPr>
          <a:xfrm>
            <a:off x="7424928" y="1737360"/>
            <a:ext cx="4023360" cy="731520"/>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We replayed all 74,838 jobs. In 90% of long waits the person was at their own cap while 287 of 450 GPUs sat free.</a:t>
            </a:r>
            <a:endParaRPr lang="en-US" sz="1200" dirty="0"/>
          </a:p>
        </p:txBody>
      </p:sp>
      <p:sp>
        <p:nvSpPr>
          <p:cNvPr id="10" name="Text 7"/>
          <p:cNvSpPr txBox="1"/>
          <p:nvPr/>
        </p:nvSpPr>
        <p:spPr>
          <a:xfrm>
            <a:off x="7424928" y="2542032"/>
            <a:ext cx="4023360" cy="822960"/>
          </a:xfrm>
          <a:prstGeom prst="rect">
            <a:avLst/>
          </a:prstGeom>
          <a:noFill/>
          <a:ln/>
        </p:spPr>
        <p:txBody>
          <a:bodyPr wrap="square" lIns="0" tIns="0" rIns="0" bIns="0" rtlCol="0" anchor="t"/>
          <a:lstStyle/>
          <a:p>
            <a:pPr indent="0" marL="0">
              <a:buNone/>
            </a:pPr>
            <a:r>
              <a:rPr lang="en-US" sz="1200" dirty="0">
                <a:solidFill>
                  <a:srgbClr val="E6EDF3"/>
                </a:solidFill>
                <a:latin typeface="Calibri" pitchFamily="34" charset="0"/>
                <a:ea typeface="Calibri" pitchFamily="34" charset="-122"/>
                <a:cs typeface="Calibri" pitchFamily="34" charset="-120"/>
              </a:rPr>
              <a:t>Elastic quota plus idle timeout: </a:t>
            </a:r>
            <a:pPr indent="0" marL="0">
              <a:buNone/>
            </a:pPr>
            <a:r>
              <a:rPr lang="en-US" sz="1200" b="1" dirty="0">
                <a:solidFill>
                  <a:srgbClr val="E6EDF3"/>
                </a:solidFill>
                <a:latin typeface="Calibri" pitchFamily="34" charset="0"/>
                <a:ea typeface="Calibri" pitchFamily="34" charset="-122"/>
                <a:cs typeface="Calibri" pitchFamily="34" charset="-120"/>
              </a:rPr>
              <a:t>−96% waiting</a:t>
            </a:r>
            <a:pPr indent="0" marL="0">
              <a:buNone/>
            </a:pPr>
            <a:r>
              <a:rPr lang="en-US" sz="1200" dirty="0">
                <a:solidFill>
                  <a:srgbClr val="E6EDF3"/>
                </a:solidFill>
                <a:latin typeface="Calibri" pitchFamily="34" charset="0"/>
                <a:ea typeface="Calibri" pitchFamily="34" charset="-122"/>
                <a:cs typeface="Calibri" pitchFamily="34" charset="-120"/>
              </a:rPr>
              <a:t>. A safer credits pool: −21%, with 4.3 hours of lender harm in 18 weeks.</a:t>
            </a:r>
            <a:endParaRPr lang="en-US" sz="1200" dirty="0"/>
          </a:p>
        </p:txBody>
      </p:sp>
      <p:sp>
        <p:nvSpPr>
          <p:cNvPr id="11" name="Shape 8"/>
          <p:cNvSpPr/>
          <p:nvPr/>
        </p:nvSpPr>
        <p:spPr>
          <a:xfrm>
            <a:off x="7223760" y="3703320"/>
            <a:ext cx="4416552" cy="2286000"/>
          </a:xfrm>
          <a:prstGeom prst="roundRect">
            <a:avLst>
              <a:gd name="adj" fmla="val 3200"/>
            </a:avLst>
          </a:prstGeom>
          <a:solidFill>
            <a:srgbClr val="161B22"/>
          </a:solidFill>
          <a:ln w="9525">
            <a:solidFill>
              <a:srgbClr val="2B3440"/>
            </a:solidFill>
            <a:prstDash val="solid"/>
          </a:ln>
        </p:spPr>
      </p:sp>
      <p:sp>
        <p:nvSpPr>
          <p:cNvPr id="12" name="Shape 9"/>
          <p:cNvSpPr/>
          <p:nvPr/>
        </p:nvSpPr>
        <p:spPr>
          <a:xfrm>
            <a:off x="7424928" y="3922776"/>
            <a:ext cx="146304" cy="146304"/>
          </a:xfrm>
          <a:prstGeom prst="ellipse">
            <a:avLst/>
          </a:prstGeom>
          <a:solidFill>
            <a:srgbClr val="3FB950"/>
          </a:solidFill>
          <a:ln w="12700">
            <a:solidFill>
              <a:srgbClr val="3FB950"/>
            </a:solidFill>
            <a:prstDash val="solid"/>
          </a:ln>
        </p:spPr>
      </p:sp>
      <p:sp>
        <p:nvSpPr>
          <p:cNvPr id="13" name="Text 10"/>
          <p:cNvSpPr txBox="1"/>
          <p:nvPr/>
        </p:nvSpPr>
        <p:spPr>
          <a:xfrm>
            <a:off x="7644384" y="3849624"/>
            <a:ext cx="3840480" cy="320040"/>
          </a:xfrm>
          <a:prstGeom prst="rect">
            <a:avLst/>
          </a:prstGeom>
          <a:noFill/>
          <a:ln/>
        </p:spPr>
        <p:txBody>
          <a:bodyPr wrap="square" lIns="0" tIns="0" rIns="0" bIns="0" rtlCol="0" anchor="t"/>
          <a:lstStyle/>
          <a:p>
            <a:pPr indent="0" marL="0">
              <a:buNone/>
            </a:pPr>
            <a:r>
              <a:rPr lang="en-US" sz="1500" b="1" dirty="0">
                <a:solidFill>
                  <a:srgbClr val="E6EDF3"/>
                </a:solidFill>
                <a:latin typeface="Calibri" pitchFamily="34" charset="0"/>
                <a:ea typeface="Calibri" pitchFamily="34" charset="-122"/>
                <a:cs typeface="Calibri" pitchFamily="34" charset="-120"/>
              </a:rPr>
              <a:t>Built on the MantisGrid API and MCP</a:t>
            </a:r>
            <a:endParaRPr lang="en-US" sz="1500" dirty="0"/>
          </a:p>
        </p:txBody>
      </p:sp>
      <p:sp>
        <p:nvSpPr>
          <p:cNvPr id="14" name="Text 11"/>
          <p:cNvSpPr txBox="1"/>
          <p:nvPr/>
        </p:nvSpPr>
        <p:spPr>
          <a:xfrm>
            <a:off x="7424928" y="4251960"/>
            <a:ext cx="4023360" cy="731520"/>
          </a:xfrm>
          <a:prstGeom prst="rect">
            <a:avLst/>
          </a:prstGeom>
          <a:noFill/>
          <a:ln/>
        </p:spPr>
        <p:txBody>
          <a:bodyPr wrap="square" lIns="0" tIns="0" rIns="0" bIns="0" rtlCol="0" anchor="t"/>
          <a:lstStyle/>
          <a:p>
            <a:pPr indent="0" marL="0">
              <a:buNone/>
            </a:pPr>
            <a:r>
              <a:rPr lang="en-US" sz="1200" dirty="0">
                <a:solidFill>
                  <a:srgbClr val="9AA7B4"/>
                </a:solidFill>
                <a:latin typeface="Calibri" pitchFamily="34" charset="0"/>
                <a:ea typeface="Calibri" pitchFamily="34" charset="-122"/>
                <a:cs typeface="Calibri" pitchFamily="34" charset="-120"/>
              </a:rPr>
              <a:t>9 of 12 endpoints feed the dashboard. Live causal and price re-pricing on the page. The MCP server driven, with a transcript.</a:t>
            </a:r>
            <a:endParaRPr lang="en-US" sz="1200" dirty="0"/>
          </a:p>
        </p:txBody>
      </p:sp>
      <p:sp>
        <p:nvSpPr>
          <p:cNvPr id="15" name="Text 12"/>
          <p:cNvSpPr txBox="1"/>
          <p:nvPr/>
        </p:nvSpPr>
        <p:spPr>
          <a:xfrm>
            <a:off x="7424928" y="5029200"/>
            <a:ext cx="4023360" cy="822960"/>
          </a:xfrm>
          <a:prstGeom prst="rect">
            <a:avLst/>
          </a:prstGeom>
          <a:noFill/>
          <a:ln/>
        </p:spPr>
        <p:txBody>
          <a:bodyPr wrap="square" lIns="0" tIns="0" rIns="0" bIns="0" rtlCol="0" anchor="t"/>
          <a:lstStyle/>
          <a:p>
            <a:pPr indent="0" marL="0">
              <a:buNone/>
            </a:pPr>
            <a:r>
              <a:rPr lang="en-US" sz="1200" b="1" dirty="0">
                <a:solidFill>
                  <a:srgbClr val="E6EDF3"/>
                </a:solidFill>
                <a:latin typeface="Calibri" pitchFamily="34" charset="0"/>
                <a:ea typeface="Calibri" pitchFamily="34" charset="-122"/>
                <a:cs typeface="Calibri" pitchFamily="34" charset="-120"/>
              </a:rPr>
              <a:t>3 API bugs found</a:t>
            </a:r>
            <a:pPr indent="0" marL="0">
              <a:buNone/>
            </a:pPr>
            <a:r>
              <a:rPr lang="en-US" sz="1200" dirty="0">
                <a:solidFill>
                  <a:srgbClr val="E6EDF3"/>
                </a:solidFill>
                <a:latin typeface="Calibri" pitchFamily="34" charset="0"/>
                <a:ea typeface="Calibri" pitchFamily="34" charset="-122"/>
                <a:cs typeface="Calibri" pitchFamily="34" charset="-120"/>
              </a:rPr>
              <a:t>: neighbor truncates at 500 nodes, queue latency mislabelled as fact, causal quotes inconsistent ratios.</a:t>
            </a:r>
            <a:endParaRPr lang="en-US" sz="1200" dirty="0"/>
          </a:p>
        </p:txBody>
      </p:sp>
      <p:sp>
        <p:nvSpPr>
          <p:cNvPr id="16" name="Text 13"/>
          <p:cNvSpPr txBox="1"/>
          <p:nvPr/>
        </p:nvSpPr>
        <p:spPr>
          <a:xfrm>
            <a:off x="548640" y="6263640"/>
            <a:ext cx="11064240" cy="274320"/>
          </a:xfrm>
          <a:prstGeom prst="rect">
            <a:avLst/>
          </a:prstGeom>
          <a:noFill/>
          <a:ln/>
        </p:spPr>
        <p:txBody>
          <a:bodyPr wrap="square" lIns="0" tIns="0" rIns="0" bIns="0" rtlCol="0" anchor="t"/>
          <a:lstStyle/>
          <a:p>
            <a:pPr indent="0" marL="0">
              <a:buNone/>
            </a:pPr>
            <a:r>
              <a:rPr lang="en-US" sz="1100" dirty="0">
                <a:solidFill>
                  <a:srgbClr val="6E7D8C"/>
                </a:solidFill>
                <a:latin typeface="Calibri" pitchFamily="34" charset="0"/>
                <a:ea typeface="Calibri" pitchFamily="34" charset="-122"/>
                <a:cs typeface="Calibri" pitchFamily="34" charset="-120"/>
              </a:rPr>
              <a:t>Run it: docker compose up, then localhost:3000  ·  Every number reproducible from analysis/  ·  ANALYSIS.md, API_ANALYSIS.md, REPORT.md, claims.json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16 — GPU Spend Review</dc:title>
  <dc:subject>PptxGenJS Presentation</dc:subject>
  <dc:creator>PptxGenJS</dc:creator>
  <cp:lastModifiedBy>PptxGenJS</cp:lastModifiedBy>
  <cp:revision>1</cp:revision>
  <dcterms:created xsi:type="dcterms:W3CDTF">2026-09-17T21:27:57Z</dcterms:created>
  <dcterms:modified xsi:type="dcterms:W3CDTF">2026-09-17T21:27:57Z</dcterms:modified>
</cp:coreProperties>
</file>